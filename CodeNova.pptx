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456c671-a73e-72e2-f47b-ebefa14099ca}">
          <p14:sldIdLst>
            <p14:sldId id="256"/>
          </p14:sldIdLst>
        </p14:section>
        <p14:section name="Problem" id="{549b5942-a6c8-eab2-12ce-d6e63d1fbc8d}">
          <p14:sldIdLst>
            <p14:sldId id="257"/>
            <p14:sldId id="258"/>
          </p14:sldIdLst>
        </p14:section>
        <p14:section name="Solution" id="{fb808e03-642d-ac0f-349a-6fa6256709ba}">
          <p14:sldIdLst>
            <p14:sldId id="259"/>
            <p14:sldId id="260"/>
            <p14:sldId id="261"/>
            <p14:sldId id="262"/>
          </p14:sldIdLst>
        </p14:section>
        <p14:section name="Plan" id="{1c285bc6-15bb-7d38-3c57-e5e6ede68543}">
          <p14:sldIdLst>
            <p14:sldId id="263"/>
          </p14:sldIdLst>
        </p14:section>
        <p14:section name="Close" id="{53f9bd6e-dd7b-80f2-923e-e1588354f11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Sneha. I'm a third-year B.Tech student at Graphic Era Hill University in Dehradun, and I'm building this on my own. CodeNova is my team name. Sahayak is the idea: file a complaint by simply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imagined example, but it's the kind of thing that happens. The problem isn't that people don't care. The process is too hard for the people who need it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 frictions. Each one is minor on its own. Together they make people give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verbs. Speak, confirm, track. The AI does the hard part, which is working out what the complaint is and where it goes. The citizen just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citizen sees after speaking. The problem, department and location are already filled in. She only has to check and press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is enhancing existing applications, so I'm not building a new government system. Sahayak makes the existing one easier to reach. If an official API is available we use it; otherwise it's a guided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people who struggle most are exactly who this is built for. The under-60-seconds figure is a target I'll test in the pilot, not something I'm claiming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building this solo, so the plan is deliberately simple: a demo first, then real users, then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chemeClr val="tx2"/>
                </a:solidFill>
              </a:rPr>
              <a:t>CodeNova  ·  PRAYAS 2026</a:t>
            </a:r>
            <a:endParaRPr lang="en-US" sz="1000" dirty="0"/>
          </a:p>
        </p:txBody>
      </p:sp>
      <p:sp>
        <p:nvSpPr>
          <p:cNvPr id="3" name="Text 1"/>
          <p:cNvSpPr/>
          <p:nvPr>
            <p:ph idx="101" type="title" hasCustomPrompt="1"/>
          </p:nvPr>
        </p:nvSpPr>
        <p:spPr>
          <a:xfrm>
            <a:off x="548640" y="457200"/>
            <a:ext cx="804672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09728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097280"/>
          </a:xfrm>
          <a:prstGeom prst="rect">
            <a:avLst/>
          </a:prstGeom>
          <a:noFill/>
          <a:ln/>
        </p:spPr>
        <p:txBody>
          <a:bodyPr wrap="square" lIns="0" tIns="0" rIns="0" bIns="0" rtlCol="0" anchor="ctr"/>
          <a:lstStyle/>
          <a:p>
            <a:pPr algn="l" indent="0" marL="0">
              <a:buNone/>
            </a:pPr>
            <a:r>
              <a:rPr lang="en-US" sz="6600" b="1" dirty="0">
                <a:solidFill>
                  <a:schemeClr val="tx1"/>
                </a:solidFill>
              </a:rPr>
              <a:t>CodeNova</a:t>
            </a:r>
            <a:endParaRPr lang="en-US" sz="6600" dirty="0"/>
          </a:p>
        </p:txBody>
      </p:sp>
      <p:sp>
        <p:nvSpPr>
          <p:cNvPr id="3" name="Text 1"/>
          <p:cNvSpPr txBox="1"/>
          <p:nvPr/>
        </p:nvSpPr>
        <p:spPr>
          <a:xfrm>
            <a:off x="548640" y="2377440"/>
            <a:ext cx="7680960" cy="457200"/>
          </a:xfrm>
          <a:prstGeom prst="rect">
            <a:avLst/>
          </a:prstGeom>
          <a:noFill/>
          <a:ln/>
        </p:spPr>
        <p:txBody>
          <a:bodyPr wrap="square" lIns="0" tIns="0" rIns="0" bIns="0" rtlCol="0" anchor="t"/>
          <a:lstStyle/>
          <a:p>
            <a:pPr indent="0" marL="0">
              <a:buNone/>
            </a:pPr>
            <a:r>
              <a:rPr lang="en-US" sz="2400" b="1" dirty="0">
                <a:solidFill>
                  <a:schemeClr val="accent1"/>
                </a:solidFill>
              </a:rPr>
              <a:t>Sahayak</a:t>
            </a:r>
            <a:pPr indent="0" marL="0">
              <a:buNone/>
            </a:pPr>
            <a:r>
              <a:rPr lang="en-US" sz="2400" dirty="0">
                <a:solidFill>
                  <a:schemeClr val="tx1"/>
                </a:solidFill>
              </a:rPr>
              <a:t>: file a complaint by simply talking.</a:t>
            </a:r>
            <a:endParaRPr lang="en-US" sz="2400" dirty="0"/>
          </a:p>
        </p:txBody>
      </p:sp>
      <p:sp>
        <p:nvSpPr>
          <p:cNvPr id="4" name="Text 2"/>
          <p:cNvSpPr txBox="1"/>
          <p:nvPr/>
        </p:nvSpPr>
        <p:spPr>
          <a:xfrm>
            <a:off x="548640" y="3657600"/>
            <a:ext cx="7315200" cy="1005840"/>
          </a:xfrm>
          <a:prstGeom prst="rect">
            <a:avLst/>
          </a:prstGeom>
          <a:noFill/>
          <a:ln/>
        </p:spPr>
        <p:txBody>
          <a:bodyPr wrap="square" lIns="0" tIns="0" rIns="0" bIns="0" rtlCol="0" anchor="t"/>
          <a:lstStyle/>
          <a:p>
            <a:pPr indent="0" marL="0">
              <a:buNone/>
            </a:pPr>
            <a:r>
              <a:rPr lang="en-US" sz="1800" b="1" dirty="0">
                <a:solidFill>
                  <a:schemeClr val="tx1"/>
                </a:solidFill>
              </a:rPr>
              <a:t>Sneha Sharma</a:t>
            </a:r>
            <a:endParaRPr lang="en-US" sz="1800" dirty="0"/>
          </a:p>
          <a:p>
            <a:pPr indent="0" marL="0">
              <a:buNone/>
            </a:pPr>
            <a:r>
              <a:rPr lang="en-US" sz="1400" dirty="0">
                <a:solidFill>
                  <a:schemeClr val="tx2"/>
                </a:solidFill>
              </a:rPr>
              <a:t>B.Tech, 3rd year  ·  Graphic Era Hill University, Dehradun</a:t>
            </a:r>
            <a:endParaRPr lang="en-US" sz="1800" dirty="0"/>
          </a:p>
          <a:p>
            <a:pPr indent="0" marL="0">
              <a:buNone/>
            </a:pPr>
            <a:r>
              <a:rPr lang="en-US" sz="1400" dirty="0">
                <a:solidFill>
                  <a:schemeClr val="tx2"/>
                </a:solidFill>
              </a:rPr>
              <a:t>PRAYAS 2026  ·  Student category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Imagine Kamla Devi</a:t>
            </a:r>
            <a:endParaRPr lang="en-US" sz="3600" dirty="0"/>
          </a:p>
        </p:txBody>
      </p:sp>
      <p:sp>
        <p:nvSpPr>
          <p:cNvPr id="3" name="Text 1"/>
          <p:cNvSpPr txBox="1"/>
          <p:nvPr/>
        </p:nvSpPr>
        <p:spPr>
          <a:xfrm>
            <a:off x="548640" y="1554480"/>
            <a:ext cx="6766560" cy="914400"/>
          </a:xfrm>
          <a:prstGeom prst="rect">
            <a:avLst/>
          </a:prstGeom>
          <a:noFill/>
          <a:ln/>
        </p:spPr>
        <p:txBody>
          <a:bodyPr wrap="square" lIns="0" tIns="0" rIns="0" bIns="0" rtlCol="0" anchor="t"/>
          <a:lstStyle/>
          <a:p>
            <a:pPr indent="0" marL="0">
              <a:buNone/>
            </a:pPr>
            <a:r>
              <a:rPr lang="en-US" sz="2000" dirty="0">
                <a:solidFill>
                  <a:schemeClr val="tx1"/>
                </a:solidFill>
              </a:rPr>
              <a:t>Kamla Devi is 62 and lives in a hill village. The street light outside her home has been dead for three weeks.</a:t>
            </a:r>
            <a:endParaRPr lang="en-US" sz="2000" dirty="0"/>
          </a:p>
        </p:txBody>
      </p:sp>
      <p:sp>
        <p:nvSpPr>
          <p:cNvPr id="4" name="Text 2"/>
          <p:cNvSpPr txBox="1"/>
          <p:nvPr/>
        </p:nvSpPr>
        <p:spPr>
          <a:xfrm>
            <a:off x="548640" y="2606040"/>
            <a:ext cx="6766560" cy="914400"/>
          </a:xfrm>
          <a:prstGeom prst="rect">
            <a:avLst/>
          </a:prstGeom>
          <a:noFill/>
          <a:ln/>
        </p:spPr>
        <p:txBody>
          <a:bodyPr wrap="square" lIns="0" tIns="0" rIns="0" bIns="0" rtlCol="0" anchor="t"/>
          <a:lstStyle/>
          <a:p>
            <a:pPr indent="0" marL="0">
              <a:buNone/>
            </a:pPr>
            <a:r>
              <a:rPr lang="en-US" sz="2000" dirty="0">
                <a:solidFill>
                  <a:schemeClr val="tx1"/>
                </a:solidFill>
              </a:rPr>
              <a:t>She has a smartphone. But the complaint form is long, in formal language, and the signal keeps dropping.</a:t>
            </a:r>
            <a:endParaRPr lang="en-US" sz="2000" dirty="0"/>
          </a:p>
        </p:txBody>
      </p:sp>
      <p:sp>
        <p:nvSpPr>
          <p:cNvPr id="5" name="Text 3"/>
          <p:cNvSpPr txBox="1"/>
          <p:nvPr/>
        </p:nvSpPr>
        <p:spPr>
          <a:xfrm>
            <a:off x="548640" y="3611880"/>
            <a:ext cx="676656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So she doesn't file.</a:t>
            </a:r>
            <a:endParaRPr lang="en-US" sz="2400" dirty="0"/>
          </a:p>
        </p:txBody>
      </p:sp>
      <p:sp>
        <p:nvSpPr>
          <p:cNvPr id="6" name="Text 4"/>
          <p:cNvSpPr txBox="1"/>
          <p:nvPr/>
        </p:nvSpPr>
        <p:spPr>
          <a:xfrm>
            <a:off x="548640" y="4343400"/>
            <a:ext cx="6766560" cy="274320"/>
          </a:xfrm>
          <a:prstGeom prst="rect">
            <a:avLst/>
          </a:prstGeom>
          <a:noFill/>
          <a:ln/>
        </p:spPr>
        <p:txBody>
          <a:bodyPr wrap="square" lIns="0" tIns="0" rIns="0" bIns="0" rtlCol="0" anchor="t"/>
          <a:lstStyle/>
          <a:p>
            <a:pPr indent="0" marL="0">
              <a:buNone/>
            </a:pPr>
            <a:r>
              <a:rPr lang="en-US" sz="1200" i="1" dirty="0">
                <a:solidFill>
                  <a:schemeClr val="tx2"/>
                </a:solidFill>
              </a:rPr>
              <a:t>An imagined example, based on problems citizens commonly face.</a:t>
            </a:r>
            <a:endParaRPr lang="en-US" sz="12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Why people stop trying</a:t>
            </a:r>
            <a:endParaRPr lang="en-US" sz="3600" dirty="0"/>
          </a:p>
        </p:txBody>
      </p:sp>
      <p:sp>
        <p:nvSpPr>
          <p:cNvPr id="3" name="Text 1"/>
          <p:cNvSpPr txBox="1"/>
          <p:nvPr/>
        </p:nvSpPr>
        <p:spPr>
          <a:xfrm>
            <a:off x="548640" y="1600200"/>
            <a:ext cx="2743200" cy="5486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Forms feel foreign</a:t>
            </a:r>
            <a:endParaRPr lang="en-US" sz="2000" dirty="0"/>
          </a:p>
        </p:txBody>
      </p:sp>
      <p:sp>
        <p:nvSpPr>
          <p:cNvPr id="4" name="Text 2"/>
          <p:cNvSpPr txBox="1"/>
          <p:nvPr/>
        </p:nvSpPr>
        <p:spPr>
          <a:xfrm>
            <a:off x="3474720" y="1627632"/>
            <a:ext cx="5120640" cy="548640"/>
          </a:xfrm>
          <a:prstGeom prst="rect">
            <a:avLst/>
          </a:prstGeom>
          <a:noFill/>
          <a:ln/>
        </p:spPr>
        <p:txBody>
          <a:bodyPr wrap="square" lIns="0" tIns="0" rIns="0" bIns="0" rtlCol="0" anchor="t"/>
          <a:lstStyle/>
          <a:p>
            <a:pPr indent="0" marL="0">
              <a:buNone/>
            </a:pPr>
            <a:r>
              <a:rPr lang="en-US" sz="1600" dirty="0">
                <a:solidFill>
                  <a:schemeClr val="tx1"/>
                </a:solidFill>
              </a:rPr>
              <a:t>Formal Hindi and English put off elderly citizens and first-time smartphone users.</a:t>
            </a:r>
            <a:endParaRPr lang="en-US" sz="1600" dirty="0"/>
          </a:p>
        </p:txBody>
      </p:sp>
      <p:sp>
        <p:nvSpPr>
          <p:cNvPr id="5" name="Text 3"/>
          <p:cNvSpPr txBox="1"/>
          <p:nvPr/>
        </p:nvSpPr>
        <p:spPr>
          <a:xfrm>
            <a:off x="548640" y="2331720"/>
            <a:ext cx="2743200" cy="5486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Which department?</a:t>
            </a:r>
            <a:endParaRPr lang="en-US" sz="2000" dirty="0"/>
          </a:p>
        </p:txBody>
      </p:sp>
      <p:sp>
        <p:nvSpPr>
          <p:cNvPr id="6" name="Text 4"/>
          <p:cNvSpPr txBox="1"/>
          <p:nvPr/>
        </p:nvSpPr>
        <p:spPr>
          <a:xfrm>
            <a:off x="3474720" y="2359152"/>
            <a:ext cx="5120640" cy="548640"/>
          </a:xfrm>
          <a:prstGeom prst="rect">
            <a:avLst/>
          </a:prstGeom>
          <a:noFill/>
          <a:ln/>
        </p:spPr>
        <p:txBody>
          <a:bodyPr wrap="square" lIns="0" tIns="0" rIns="0" bIns="0" rtlCol="0" anchor="t"/>
          <a:lstStyle/>
          <a:p>
            <a:pPr indent="0" marL="0">
              <a:buNone/>
            </a:pPr>
            <a:r>
              <a:rPr lang="en-US" sz="1600" dirty="0">
                <a:solidFill>
                  <a:schemeClr val="tx1"/>
                </a:solidFill>
              </a:rPr>
              <a:t>Most people can't tell where their problem belongs.</a:t>
            </a:r>
            <a:endParaRPr lang="en-US" sz="1600" dirty="0"/>
          </a:p>
        </p:txBody>
      </p:sp>
      <p:sp>
        <p:nvSpPr>
          <p:cNvPr id="7" name="Text 5"/>
          <p:cNvSpPr txBox="1"/>
          <p:nvPr/>
        </p:nvSpPr>
        <p:spPr>
          <a:xfrm>
            <a:off x="548640" y="3063240"/>
            <a:ext cx="2743200" cy="5486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Then silence</a:t>
            </a:r>
            <a:endParaRPr lang="en-US" sz="2000" dirty="0"/>
          </a:p>
        </p:txBody>
      </p:sp>
      <p:sp>
        <p:nvSpPr>
          <p:cNvPr id="8" name="Text 6"/>
          <p:cNvSpPr txBox="1"/>
          <p:nvPr/>
        </p:nvSpPr>
        <p:spPr>
          <a:xfrm>
            <a:off x="3474720" y="3090672"/>
            <a:ext cx="5120640" cy="548640"/>
          </a:xfrm>
          <a:prstGeom prst="rect">
            <a:avLst/>
          </a:prstGeom>
          <a:noFill/>
          <a:ln/>
        </p:spPr>
        <p:txBody>
          <a:bodyPr wrap="square" lIns="0" tIns="0" rIns="0" bIns="0" rtlCol="0" anchor="t"/>
          <a:lstStyle/>
          <a:p>
            <a:pPr indent="0" marL="0">
              <a:buNone/>
            </a:pPr>
            <a:r>
              <a:rPr lang="en-US" sz="1600" dirty="0">
                <a:solidFill>
                  <a:schemeClr val="tx1"/>
                </a:solidFill>
              </a:rPr>
              <a:t>After filing, there's no simple way to see what happened.</a:t>
            </a:r>
            <a:endParaRPr lang="en-US" sz="1600" dirty="0"/>
          </a:p>
        </p:txBody>
      </p:sp>
      <p:sp>
        <p:nvSpPr>
          <p:cNvPr id="9" name="Text 7"/>
          <p:cNvSpPr txBox="1"/>
          <p:nvPr/>
        </p:nvSpPr>
        <p:spPr>
          <a:xfrm>
            <a:off x="548640" y="3794760"/>
            <a:ext cx="2743200" cy="5486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Signal drops</a:t>
            </a:r>
            <a:endParaRPr lang="en-US" sz="2000" dirty="0"/>
          </a:p>
        </p:txBody>
      </p:sp>
      <p:sp>
        <p:nvSpPr>
          <p:cNvPr id="10" name="Text 8"/>
          <p:cNvSpPr txBox="1"/>
          <p:nvPr/>
        </p:nvSpPr>
        <p:spPr>
          <a:xfrm>
            <a:off x="3474720" y="3822192"/>
            <a:ext cx="5120640" cy="548640"/>
          </a:xfrm>
          <a:prstGeom prst="rect">
            <a:avLst/>
          </a:prstGeom>
          <a:noFill/>
          <a:ln/>
        </p:spPr>
        <p:txBody>
          <a:bodyPr wrap="square" lIns="0" tIns="0" rIns="0" bIns="0" rtlCol="0" anchor="t"/>
          <a:lstStyle/>
          <a:p>
            <a:pPr indent="0" marL="0">
              <a:buNone/>
            </a:pPr>
            <a:r>
              <a:rPr lang="en-US" sz="1600" dirty="0">
                <a:solidFill>
                  <a:schemeClr val="tx1"/>
                </a:solidFill>
              </a:rPr>
              <a:t>In the hills, a half-filled form is often lost.</a:t>
            </a:r>
            <a:endParaRPr lang="en-US" sz="16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Speak. Confirm. Track.</a:t>
            </a:r>
            <a:endParaRPr lang="en-US" sz="3600" dirty="0"/>
          </a:p>
        </p:txBody>
      </p:sp>
      <p:sp>
        <p:nvSpPr>
          <p:cNvPr id="3" name="Text 1"/>
          <p:cNvSpPr txBox="1"/>
          <p:nvPr/>
        </p:nvSpPr>
        <p:spPr>
          <a:xfrm>
            <a:off x="548640" y="1645920"/>
            <a:ext cx="2560320"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Speak</a:t>
            </a:r>
            <a:endParaRPr lang="en-US" sz="3000" dirty="0"/>
          </a:p>
        </p:txBody>
      </p:sp>
      <p:sp>
        <p:nvSpPr>
          <p:cNvPr id="4" name="Text 2"/>
          <p:cNvSpPr txBox="1"/>
          <p:nvPr/>
        </p:nvSpPr>
        <p:spPr>
          <a:xfrm>
            <a:off x="548640" y="2331720"/>
            <a:ext cx="2468880" cy="1463040"/>
          </a:xfrm>
          <a:prstGeom prst="rect">
            <a:avLst/>
          </a:prstGeom>
          <a:noFill/>
          <a:ln/>
        </p:spPr>
        <p:txBody>
          <a:bodyPr wrap="square" lIns="0" tIns="0" rIns="0" bIns="0" rtlCol="0" anchor="t"/>
          <a:lstStyle/>
          <a:p>
            <a:pPr indent="0" marL="0">
              <a:buNone/>
            </a:pPr>
            <a:r>
              <a:rPr lang="en-US" sz="1600" dirty="0">
                <a:solidFill>
                  <a:schemeClr val="tx1"/>
                </a:solidFill>
              </a:rPr>
              <a:t>Say the problem in Hindi. Garhwali and Kumaoni come next. Or just type it.</a:t>
            </a:r>
            <a:endParaRPr lang="en-US" sz="1600" dirty="0"/>
          </a:p>
        </p:txBody>
      </p:sp>
      <p:sp>
        <p:nvSpPr>
          <p:cNvPr id="5" name="Text 3"/>
          <p:cNvSpPr txBox="1"/>
          <p:nvPr/>
        </p:nvSpPr>
        <p:spPr>
          <a:xfrm>
            <a:off x="3383280" y="1645920"/>
            <a:ext cx="2560320"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Confirm</a:t>
            </a:r>
            <a:endParaRPr lang="en-US" sz="3000" dirty="0"/>
          </a:p>
        </p:txBody>
      </p:sp>
      <p:sp>
        <p:nvSpPr>
          <p:cNvPr id="6" name="Text 4"/>
          <p:cNvSpPr txBox="1"/>
          <p:nvPr/>
        </p:nvSpPr>
        <p:spPr>
          <a:xfrm>
            <a:off x="3383280" y="2331720"/>
            <a:ext cx="2468880" cy="1463040"/>
          </a:xfrm>
          <a:prstGeom prst="rect">
            <a:avLst/>
          </a:prstGeom>
          <a:noFill/>
          <a:ln/>
        </p:spPr>
        <p:txBody>
          <a:bodyPr wrap="square" lIns="0" tIns="0" rIns="0" bIns="0" rtlCol="0" anchor="t"/>
          <a:lstStyle/>
          <a:p>
            <a:pPr indent="0" marL="0">
              <a:buNone/>
            </a:pPr>
            <a:r>
              <a:rPr lang="en-US" sz="1600" dirty="0">
                <a:solidFill>
                  <a:schemeClr val="tx1"/>
                </a:solidFill>
              </a:rPr>
              <a:t>The form fills itself and the department is suggested. Add a photo and location in one tap.</a:t>
            </a:r>
            <a:endParaRPr lang="en-US" sz="1600" dirty="0"/>
          </a:p>
        </p:txBody>
      </p:sp>
      <p:sp>
        <p:nvSpPr>
          <p:cNvPr id="7" name="Text 5"/>
          <p:cNvSpPr txBox="1"/>
          <p:nvPr/>
        </p:nvSpPr>
        <p:spPr>
          <a:xfrm>
            <a:off x="6217920" y="1645920"/>
            <a:ext cx="2560320"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Track</a:t>
            </a:r>
            <a:endParaRPr lang="en-US" sz="3000" dirty="0"/>
          </a:p>
        </p:txBody>
      </p:sp>
      <p:sp>
        <p:nvSpPr>
          <p:cNvPr id="8" name="Text 6"/>
          <p:cNvSpPr txBox="1"/>
          <p:nvPr/>
        </p:nvSpPr>
        <p:spPr>
          <a:xfrm>
            <a:off x="6217920" y="2331720"/>
            <a:ext cx="2468880" cy="1463040"/>
          </a:xfrm>
          <a:prstGeom prst="rect">
            <a:avLst/>
          </a:prstGeom>
          <a:noFill/>
          <a:ln/>
        </p:spPr>
        <p:txBody>
          <a:bodyPr wrap="square" lIns="0" tIns="0" rIns="0" bIns="0" rtlCol="0" anchor="t"/>
          <a:lstStyle/>
          <a:p>
            <a:pPr indent="0" marL="0">
              <a:buNone/>
            </a:pPr>
            <a:r>
              <a:rPr lang="en-US" sz="1600" dirty="0">
                <a:solidFill>
                  <a:schemeClr val="tx1"/>
                </a:solidFill>
              </a:rPr>
              <a:t>A simple timeline, with SMS or WhatsApp updates at every step.</a:t>
            </a:r>
            <a:endParaRPr lang="en-US" sz="1600" dirty="0"/>
          </a:p>
        </p:txBody>
      </p:sp>
      <p:sp>
        <p:nvSpPr>
          <p:cNvPr id="9" name="Text 7"/>
          <p:cNvSpPr txBox="1"/>
          <p:nvPr/>
        </p:nvSpPr>
        <p:spPr>
          <a:xfrm>
            <a:off x="548640" y="4069080"/>
            <a:ext cx="7680960" cy="365760"/>
          </a:xfrm>
          <a:prstGeom prst="rect">
            <a:avLst/>
          </a:prstGeom>
          <a:noFill/>
          <a:ln/>
        </p:spPr>
        <p:txBody>
          <a:bodyPr wrap="square" lIns="0" tIns="0" rIns="0" bIns="0" rtlCol="0" anchor="t"/>
          <a:lstStyle/>
          <a:p>
            <a:pPr indent="0" marL="0">
              <a:buNone/>
            </a:pPr>
            <a:r>
              <a:rPr lang="en-US" sz="1800" i="1" dirty="0">
                <a:solidFill>
                  <a:schemeClr val="tx2"/>
                </a:solidFill>
                <a:latin typeface="+mj-lt" pitchFamily="34" charset="0"/>
                <a:ea typeface="+mj-lt" pitchFamily="34" charset="-122"/>
                <a:cs typeface="+mj-lt" pitchFamily="34" charset="-120"/>
              </a:rPr>
              <a:t>The citizen never has to know how the system works.</a:t>
            </a:r>
            <a:endParaRPr lang="en-US" sz="18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What she sees on her phone</a:t>
            </a:r>
            <a:endParaRPr lang="en-US" sz="3600" dirty="0"/>
          </a:p>
        </p:txBody>
      </p:sp>
      <p:sp>
        <p:nvSpPr>
          <p:cNvPr id="3" name="Text 1"/>
          <p:cNvSpPr txBox="1"/>
          <p:nvPr/>
        </p:nvSpPr>
        <p:spPr>
          <a:xfrm>
            <a:off x="548640" y="1554480"/>
            <a:ext cx="4846320" cy="2834640"/>
          </a:xfrm>
          <a:prstGeom prst="rect">
            <a:avLst/>
          </a:prstGeom>
          <a:noFill/>
          <a:ln/>
        </p:spPr>
        <p:txBody>
          <a:bodyPr wrap="square" lIns="0" tIns="0" rIns="0" bIns="0" rtlCol="0" anchor="t"/>
          <a:lstStyle/>
          <a:p>
            <a:pPr indent="0" marL="0">
              <a:spcAft>
                <a:spcPts val="1400"/>
              </a:spcAft>
              <a:buNone/>
            </a:pPr>
            <a:r>
              <a:rPr lang="en-US" sz="1800" b="1" dirty="0">
                <a:solidFill>
                  <a:schemeClr val="tx1"/>
                </a:solidFill>
              </a:rPr>
              <a:t>Works offline. </a:t>
            </a:r>
            <a:pPr indent="0" marL="0">
              <a:spcAft>
                <a:spcPts val="1400"/>
              </a:spcAft>
              <a:buNone/>
            </a:pPr>
            <a:r>
              <a:rPr lang="en-US" sz="1800" dirty="0">
                <a:solidFill>
                  <a:schemeClr val="tx1"/>
                </a:solidFill>
              </a:rPr>
              <a:t>Drafts are saved and sent when the signal returns.</a:t>
            </a:r>
            <a:endParaRPr lang="en-US" sz="1800" dirty="0"/>
          </a:p>
          <a:p>
            <a:pPr indent="0" marL="0">
              <a:spcAft>
                <a:spcPts val="1400"/>
              </a:spcAft>
              <a:buNone/>
            </a:pPr>
            <a:r>
              <a:rPr lang="en-US" sz="1800" b="1" dirty="0">
                <a:solidFill>
                  <a:schemeClr val="tx1"/>
                </a:solidFill>
              </a:rPr>
              <a:t>Photo and location. </a:t>
            </a:r>
            <a:pPr indent="0" marL="0">
              <a:spcAft>
                <a:spcPts val="1400"/>
              </a:spcAft>
              <a:buNone/>
            </a:pPr>
            <a:r>
              <a:rPr lang="en-US" sz="1800" dirty="0">
                <a:solidFill>
                  <a:schemeClr val="tx1"/>
                </a:solidFill>
              </a:rPr>
              <a:t>One tap, and the complaint has proof.</a:t>
            </a:r>
            <a:endParaRPr lang="en-US" sz="1800" dirty="0"/>
          </a:p>
          <a:p>
            <a:pPr indent="0" marL="0">
              <a:spcAft>
                <a:spcPts val="1400"/>
              </a:spcAft>
              <a:buNone/>
            </a:pPr>
            <a:r>
              <a:rPr lang="en-US" sz="1800" b="1" dirty="0">
                <a:solidFill>
                  <a:schemeClr val="tx1"/>
                </a:solidFill>
              </a:rPr>
              <a:t>Alerts. </a:t>
            </a:r>
            <a:pPr indent="0" marL="0">
              <a:spcAft>
                <a:spcPts val="1400"/>
              </a:spcAft>
              <a:buNone/>
            </a:pPr>
            <a:r>
              <a:rPr lang="en-US" sz="1800" dirty="0">
                <a:solidFill>
                  <a:schemeClr val="tx1"/>
                </a:solidFill>
              </a:rPr>
              <a:t>SMS and WhatsApp at every step.</a:t>
            </a:r>
            <a:endParaRPr lang="en-US" sz="1800" dirty="0"/>
          </a:p>
          <a:p>
            <a:pPr indent="0" marL="0">
              <a:spcAft>
                <a:spcPts val="1400"/>
              </a:spcAft>
              <a:buNone/>
            </a:pPr>
            <a:r>
              <a:rPr lang="en-US" sz="1800" b="1" dirty="0">
                <a:solidFill>
                  <a:schemeClr val="tx1"/>
                </a:solidFill>
              </a:rPr>
              <a:t>Easy on the eyes. </a:t>
            </a:r>
            <a:pPr indent="0" marL="0">
              <a:spcAft>
                <a:spcPts val="1400"/>
              </a:spcAft>
              <a:buNone/>
            </a:pPr>
            <a:r>
              <a:rPr lang="en-US" sz="1800" dirty="0">
                <a:solidFill>
                  <a:schemeClr val="tx1"/>
                </a:solidFill>
              </a:rPr>
              <a:t>Large text, high contrast, screen-reader support.</a:t>
            </a:r>
            <a:endParaRPr lang="en-US" sz="1800" dirty="0"/>
          </a:p>
        </p:txBody>
      </p:sp>
      <p:sp>
        <p:nvSpPr>
          <p:cNvPr id="4" name="Shape 2"/>
          <p:cNvSpPr/>
          <p:nvPr/>
        </p:nvSpPr>
        <p:spPr>
          <a:xfrm>
            <a:off x="6035040" y="1325880"/>
            <a:ext cx="2286000" cy="3246120"/>
          </a:xfrm>
          <a:prstGeom prst="roundRect">
            <a:avLst>
              <a:gd name="adj" fmla="val 10000"/>
            </a:avLst>
          </a:prstGeom>
          <a:solidFill>
            <a:schemeClr val="bg1"/>
          </a:solidFill>
          <a:ln w="19050">
            <a:solidFill>
              <a:schemeClr val="tx1"/>
            </a:solidFill>
            <a:prstDash val="solid"/>
          </a:ln>
        </p:spPr>
      </p:sp>
      <p:sp>
        <p:nvSpPr>
          <p:cNvPr id="5" name="Text 3"/>
          <p:cNvSpPr txBox="1"/>
          <p:nvPr/>
        </p:nvSpPr>
        <p:spPr>
          <a:xfrm>
            <a:off x="6263640" y="1600200"/>
            <a:ext cx="1828800" cy="228600"/>
          </a:xfrm>
          <a:prstGeom prst="rect">
            <a:avLst/>
          </a:prstGeom>
          <a:noFill/>
          <a:ln/>
        </p:spPr>
        <p:txBody>
          <a:bodyPr wrap="square" lIns="0" tIns="0" rIns="0" bIns="0" rtlCol="0" anchor="t"/>
          <a:lstStyle/>
          <a:p>
            <a:pPr indent="0" marL="0">
              <a:buNone/>
            </a:pPr>
            <a:r>
              <a:rPr lang="en-US" sz="1200" b="1" dirty="0">
                <a:solidFill>
                  <a:schemeClr val="tx2"/>
                </a:solidFill>
              </a:rPr>
              <a:t>New complaint</a:t>
            </a:r>
            <a:endParaRPr lang="en-US" sz="1200" dirty="0"/>
          </a:p>
        </p:txBody>
      </p:sp>
      <p:sp>
        <p:nvSpPr>
          <p:cNvPr id="6" name="Text 4"/>
          <p:cNvSpPr txBox="1"/>
          <p:nvPr/>
        </p:nvSpPr>
        <p:spPr>
          <a:xfrm>
            <a:off x="6263640" y="1920240"/>
            <a:ext cx="1828800" cy="548640"/>
          </a:xfrm>
          <a:prstGeom prst="rect">
            <a:avLst/>
          </a:prstGeom>
          <a:noFill/>
          <a:ln/>
        </p:spPr>
        <p:txBody>
          <a:bodyPr wrap="square" lIns="0" tIns="0" rIns="0" bIns="0" rtlCol="0" anchor="t"/>
          <a:lstStyle/>
          <a:p>
            <a:pPr indent="0" marL="0">
              <a:buNone/>
            </a:pPr>
            <a:r>
              <a:rPr lang="en-US" sz="1400" b="1" dirty="0">
                <a:solidFill>
                  <a:schemeClr val="tx1"/>
                </a:solidFill>
              </a:rPr>
              <a:t>Street light not working for three weeks</a:t>
            </a:r>
            <a:endParaRPr lang="en-US" sz="1400" dirty="0"/>
          </a:p>
        </p:txBody>
      </p:sp>
      <p:sp>
        <p:nvSpPr>
          <p:cNvPr id="7" name="Text 5"/>
          <p:cNvSpPr txBox="1"/>
          <p:nvPr/>
        </p:nvSpPr>
        <p:spPr>
          <a:xfrm>
            <a:off x="6263640" y="2606040"/>
            <a:ext cx="1828800" cy="182880"/>
          </a:xfrm>
          <a:prstGeom prst="rect">
            <a:avLst/>
          </a:prstGeom>
          <a:noFill/>
          <a:ln/>
        </p:spPr>
        <p:txBody>
          <a:bodyPr wrap="square" lIns="0" tIns="0" rIns="0" bIns="0" rtlCol="0" anchor="t"/>
          <a:lstStyle/>
          <a:p>
            <a:pPr indent="0" marL="0">
              <a:buNone/>
            </a:pPr>
            <a:r>
              <a:rPr lang="en-US" sz="1000" dirty="0">
                <a:solidFill>
                  <a:schemeClr val="tx2"/>
                </a:solidFill>
              </a:rPr>
              <a:t>Department</a:t>
            </a:r>
            <a:endParaRPr lang="en-US" sz="1000" dirty="0"/>
          </a:p>
        </p:txBody>
      </p:sp>
      <p:sp>
        <p:nvSpPr>
          <p:cNvPr id="8" name="Text 6"/>
          <p:cNvSpPr txBox="1"/>
          <p:nvPr/>
        </p:nvSpPr>
        <p:spPr>
          <a:xfrm>
            <a:off x="6263640" y="2788920"/>
            <a:ext cx="1828800" cy="274320"/>
          </a:xfrm>
          <a:prstGeom prst="rect">
            <a:avLst/>
          </a:prstGeom>
          <a:noFill/>
          <a:ln/>
        </p:spPr>
        <p:txBody>
          <a:bodyPr wrap="square" lIns="0" tIns="0" rIns="0" bIns="0" rtlCol="0" anchor="t"/>
          <a:lstStyle/>
          <a:p>
            <a:pPr indent="0" marL="0">
              <a:buNone/>
            </a:pPr>
            <a:r>
              <a:rPr lang="en-US" sz="1400" dirty="0">
                <a:solidFill>
                  <a:schemeClr val="tx1"/>
                </a:solidFill>
              </a:rPr>
              <a:t>Municipal services</a:t>
            </a:r>
            <a:endParaRPr lang="en-US" sz="1400" dirty="0"/>
          </a:p>
        </p:txBody>
      </p:sp>
      <p:sp>
        <p:nvSpPr>
          <p:cNvPr id="9" name="Text 7"/>
          <p:cNvSpPr txBox="1"/>
          <p:nvPr/>
        </p:nvSpPr>
        <p:spPr>
          <a:xfrm>
            <a:off x="6263640" y="3200400"/>
            <a:ext cx="1828800" cy="182880"/>
          </a:xfrm>
          <a:prstGeom prst="rect">
            <a:avLst/>
          </a:prstGeom>
          <a:noFill/>
          <a:ln/>
        </p:spPr>
        <p:txBody>
          <a:bodyPr wrap="square" lIns="0" tIns="0" rIns="0" bIns="0" rtlCol="0" anchor="t"/>
          <a:lstStyle/>
          <a:p>
            <a:pPr indent="0" marL="0">
              <a:buNone/>
            </a:pPr>
            <a:r>
              <a:rPr lang="en-US" sz="1000" dirty="0">
                <a:solidFill>
                  <a:schemeClr val="tx2"/>
                </a:solidFill>
              </a:rPr>
              <a:t>Location</a:t>
            </a:r>
            <a:endParaRPr lang="en-US" sz="1000" dirty="0"/>
          </a:p>
        </p:txBody>
      </p:sp>
      <p:sp>
        <p:nvSpPr>
          <p:cNvPr id="10" name="Text 8"/>
          <p:cNvSpPr txBox="1"/>
          <p:nvPr/>
        </p:nvSpPr>
        <p:spPr>
          <a:xfrm>
            <a:off x="6263640" y="3383280"/>
            <a:ext cx="1828800" cy="274320"/>
          </a:xfrm>
          <a:prstGeom prst="rect">
            <a:avLst/>
          </a:prstGeom>
          <a:noFill/>
          <a:ln/>
        </p:spPr>
        <p:txBody>
          <a:bodyPr wrap="square" lIns="0" tIns="0" rIns="0" bIns="0" rtlCol="0" anchor="t"/>
          <a:lstStyle/>
          <a:p>
            <a:pPr indent="0" marL="0">
              <a:buNone/>
            </a:pPr>
            <a:r>
              <a:rPr lang="en-US" sz="1400" dirty="0">
                <a:solidFill>
                  <a:schemeClr val="tx1"/>
                </a:solidFill>
              </a:rPr>
              <a:t>Added. Photo attached.</a:t>
            </a:r>
            <a:endParaRPr lang="en-US" sz="1400" dirty="0"/>
          </a:p>
        </p:txBody>
      </p:sp>
      <p:sp>
        <p:nvSpPr>
          <p:cNvPr id="11" name="Shape 9"/>
          <p:cNvSpPr/>
          <p:nvPr/>
        </p:nvSpPr>
        <p:spPr>
          <a:xfrm>
            <a:off x="6263640" y="3931920"/>
            <a:ext cx="1828800" cy="365760"/>
          </a:xfrm>
          <a:prstGeom prst="roundRect">
            <a:avLst>
              <a:gd name="adj" fmla="val 20000"/>
            </a:avLst>
          </a:prstGeom>
          <a:solidFill>
            <a:schemeClr val="accent1"/>
          </a:solidFill>
          <a:ln/>
        </p:spPr>
      </p:sp>
      <p:sp>
        <p:nvSpPr>
          <p:cNvPr id="12" name="Text 10"/>
          <p:cNvSpPr txBox="1"/>
          <p:nvPr/>
        </p:nvSpPr>
        <p:spPr>
          <a:xfrm>
            <a:off x="6263640" y="3931920"/>
            <a:ext cx="1828800" cy="365760"/>
          </a:xfrm>
          <a:prstGeom prst="rect">
            <a:avLst/>
          </a:prstGeom>
          <a:noFill/>
          <a:ln/>
        </p:spPr>
        <p:txBody>
          <a:bodyPr wrap="square" lIns="0" tIns="0" rIns="0" bIns="0" rtlCol="0" anchor="ctr"/>
          <a:lstStyle/>
          <a:p>
            <a:pPr algn="ctr" indent="0" marL="0">
              <a:buNone/>
            </a:pPr>
            <a:r>
              <a:rPr lang="en-US" sz="1200" b="1" dirty="0">
                <a:solidFill>
                  <a:schemeClr val="bg1"/>
                </a:solidFill>
              </a:rPr>
              <a:t>Submit</a:t>
            </a:r>
            <a:endParaRPr lang="en-US" sz="12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It plugs into what exists</a:t>
            </a:r>
            <a:endParaRPr lang="en-US" sz="3600" dirty="0"/>
          </a:p>
        </p:txBody>
      </p:sp>
      <p:sp>
        <p:nvSpPr>
          <p:cNvPr id="3" name="Text 1"/>
          <p:cNvSpPr txBox="1"/>
          <p:nvPr/>
        </p:nvSpPr>
        <p:spPr>
          <a:xfrm>
            <a:off x="548640" y="1645920"/>
            <a:ext cx="160020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Citizen</a:t>
            </a:r>
            <a:endParaRPr lang="en-US" sz="2200" dirty="0"/>
          </a:p>
        </p:txBody>
      </p:sp>
      <p:sp>
        <p:nvSpPr>
          <p:cNvPr id="4" name="Text 2"/>
          <p:cNvSpPr txBox="1"/>
          <p:nvPr/>
        </p:nvSpPr>
        <p:spPr>
          <a:xfrm>
            <a:off x="548640" y="2148840"/>
            <a:ext cx="1737360" cy="822960"/>
          </a:xfrm>
          <a:prstGeom prst="rect">
            <a:avLst/>
          </a:prstGeom>
          <a:noFill/>
          <a:ln/>
        </p:spPr>
        <p:txBody>
          <a:bodyPr wrap="square" lIns="0" tIns="0" rIns="0" bIns="0" rtlCol="0" anchor="t"/>
          <a:lstStyle/>
          <a:p>
            <a:pPr indent="0" marL="0">
              <a:buNone/>
            </a:pPr>
            <a:r>
              <a:rPr lang="en-US" sz="1400" dirty="0">
                <a:solidFill>
                  <a:schemeClr val="tx2"/>
                </a:solidFill>
              </a:rPr>
              <a:t>speaks or types</a:t>
            </a:r>
            <a:endParaRPr lang="en-US" sz="1400" dirty="0"/>
          </a:p>
        </p:txBody>
      </p:sp>
      <p:sp>
        <p:nvSpPr>
          <p:cNvPr id="5" name="Text 3"/>
          <p:cNvSpPr txBox="1"/>
          <p:nvPr/>
        </p:nvSpPr>
        <p:spPr>
          <a:xfrm>
            <a:off x="2176272" y="1645920"/>
            <a:ext cx="365760" cy="411480"/>
          </a:xfrm>
          <a:prstGeom prst="rect">
            <a:avLst/>
          </a:prstGeom>
          <a:noFill/>
          <a:ln/>
        </p:spPr>
        <p:txBody>
          <a:bodyPr wrap="square" lIns="0" tIns="0" rIns="0" bIns="0" rtlCol="0" anchor="t"/>
          <a:lstStyle/>
          <a:p>
            <a:pPr algn="ctr" indent="0" marL="0">
              <a:buNone/>
            </a:pPr>
            <a:r>
              <a:rPr lang="en-US" sz="2200" dirty="0">
                <a:solidFill>
                  <a:schemeClr val="tx2"/>
                </a:solidFill>
              </a:rPr>
              <a:t>→</a:t>
            </a:r>
            <a:endParaRPr lang="en-US" sz="2200" dirty="0"/>
          </a:p>
        </p:txBody>
      </p:sp>
      <p:sp>
        <p:nvSpPr>
          <p:cNvPr id="6" name="Text 4"/>
          <p:cNvSpPr txBox="1"/>
          <p:nvPr/>
        </p:nvSpPr>
        <p:spPr>
          <a:xfrm>
            <a:off x="2624328" y="1645920"/>
            <a:ext cx="1600200" cy="41148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Sahayak</a:t>
            </a:r>
            <a:endParaRPr lang="en-US" sz="2200" dirty="0"/>
          </a:p>
        </p:txBody>
      </p:sp>
      <p:sp>
        <p:nvSpPr>
          <p:cNvPr id="7" name="Text 5"/>
          <p:cNvSpPr txBox="1"/>
          <p:nvPr/>
        </p:nvSpPr>
        <p:spPr>
          <a:xfrm>
            <a:off x="2624328" y="2148840"/>
            <a:ext cx="1737360" cy="822960"/>
          </a:xfrm>
          <a:prstGeom prst="rect">
            <a:avLst/>
          </a:prstGeom>
          <a:noFill/>
          <a:ln/>
        </p:spPr>
        <p:txBody>
          <a:bodyPr wrap="square" lIns="0" tIns="0" rIns="0" bIns="0" rtlCol="0" anchor="t"/>
          <a:lstStyle/>
          <a:p>
            <a:pPr indent="0" marL="0">
              <a:buNone/>
            </a:pPr>
            <a:r>
              <a:rPr lang="en-US" sz="1400" dirty="0">
                <a:solidFill>
                  <a:schemeClr val="tx2"/>
                </a:solidFill>
              </a:rPr>
              <a:t>understands, fills the form</a:t>
            </a:r>
            <a:endParaRPr lang="en-US" sz="1400" dirty="0"/>
          </a:p>
        </p:txBody>
      </p:sp>
      <p:sp>
        <p:nvSpPr>
          <p:cNvPr id="8" name="Text 6"/>
          <p:cNvSpPr txBox="1"/>
          <p:nvPr/>
        </p:nvSpPr>
        <p:spPr>
          <a:xfrm>
            <a:off x="4251960" y="1645920"/>
            <a:ext cx="365760" cy="411480"/>
          </a:xfrm>
          <a:prstGeom prst="rect">
            <a:avLst/>
          </a:prstGeom>
          <a:noFill/>
          <a:ln/>
        </p:spPr>
        <p:txBody>
          <a:bodyPr wrap="square" lIns="0" tIns="0" rIns="0" bIns="0" rtlCol="0" anchor="t"/>
          <a:lstStyle/>
          <a:p>
            <a:pPr algn="ctr" indent="0" marL="0">
              <a:buNone/>
            </a:pPr>
            <a:r>
              <a:rPr lang="en-US" sz="2200" dirty="0">
                <a:solidFill>
                  <a:schemeClr val="tx2"/>
                </a:solidFill>
              </a:rPr>
              <a:t>→</a:t>
            </a:r>
            <a:endParaRPr lang="en-US" sz="2200" dirty="0"/>
          </a:p>
        </p:txBody>
      </p:sp>
      <p:sp>
        <p:nvSpPr>
          <p:cNvPr id="9" name="Text 7"/>
          <p:cNvSpPr txBox="1"/>
          <p:nvPr/>
        </p:nvSpPr>
        <p:spPr>
          <a:xfrm>
            <a:off x="4700016" y="1645920"/>
            <a:ext cx="160020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CM Helpline</a:t>
            </a:r>
            <a:endParaRPr lang="en-US" sz="2200" dirty="0"/>
          </a:p>
        </p:txBody>
      </p:sp>
      <p:sp>
        <p:nvSpPr>
          <p:cNvPr id="10" name="Text 8"/>
          <p:cNvSpPr txBox="1"/>
          <p:nvPr/>
        </p:nvSpPr>
        <p:spPr>
          <a:xfrm>
            <a:off x="4700016" y="2148840"/>
            <a:ext cx="1737360" cy="822960"/>
          </a:xfrm>
          <a:prstGeom prst="rect">
            <a:avLst/>
          </a:prstGeom>
          <a:noFill/>
          <a:ln/>
        </p:spPr>
        <p:txBody>
          <a:bodyPr wrap="square" lIns="0" tIns="0" rIns="0" bIns="0" rtlCol="0" anchor="t"/>
          <a:lstStyle/>
          <a:p>
            <a:pPr indent="0" marL="0">
              <a:buNone/>
            </a:pPr>
            <a:r>
              <a:rPr lang="en-US" sz="1400" dirty="0">
                <a:solidFill>
                  <a:schemeClr val="tx2"/>
                </a:solidFill>
              </a:rPr>
              <a:t>the same system as today</a:t>
            </a:r>
            <a:endParaRPr lang="en-US" sz="1400" dirty="0"/>
          </a:p>
        </p:txBody>
      </p:sp>
      <p:sp>
        <p:nvSpPr>
          <p:cNvPr id="11" name="Text 9"/>
          <p:cNvSpPr txBox="1"/>
          <p:nvPr/>
        </p:nvSpPr>
        <p:spPr>
          <a:xfrm>
            <a:off x="6327648" y="1645920"/>
            <a:ext cx="365760" cy="411480"/>
          </a:xfrm>
          <a:prstGeom prst="rect">
            <a:avLst/>
          </a:prstGeom>
          <a:noFill/>
          <a:ln/>
        </p:spPr>
        <p:txBody>
          <a:bodyPr wrap="square" lIns="0" tIns="0" rIns="0" bIns="0" rtlCol="0" anchor="t"/>
          <a:lstStyle/>
          <a:p>
            <a:pPr algn="ctr" indent="0" marL="0">
              <a:buNone/>
            </a:pPr>
            <a:r>
              <a:rPr lang="en-US" sz="2200" dirty="0">
                <a:solidFill>
                  <a:schemeClr val="tx2"/>
                </a:solidFill>
              </a:rPr>
              <a:t>→</a:t>
            </a:r>
            <a:endParaRPr lang="en-US" sz="2200" dirty="0"/>
          </a:p>
        </p:txBody>
      </p:sp>
      <p:sp>
        <p:nvSpPr>
          <p:cNvPr id="12" name="Text 10"/>
          <p:cNvSpPr txBox="1"/>
          <p:nvPr/>
        </p:nvSpPr>
        <p:spPr>
          <a:xfrm>
            <a:off x="6775704" y="1645920"/>
            <a:ext cx="160020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Officer</a:t>
            </a:r>
            <a:endParaRPr lang="en-US" sz="2200" dirty="0"/>
          </a:p>
        </p:txBody>
      </p:sp>
      <p:sp>
        <p:nvSpPr>
          <p:cNvPr id="13" name="Text 11"/>
          <p:cNvSpPr txBox="1"/>
          <p:nvPr/>
        </p:nvSpPr>
        <p:spPr>
          <a:xfrm>
            <a:off x="6775704" y="2148840"/>
            <a:ext cx="1737360" cy="822960"/>
          </a:xfrm>
          <a:prstGeom prst="rect">
            <a:avLst/>
          </a:prstGeom>
          <a:noFill/>
          <a:ln/>
        </p:spPr>
        <p:txBody>
          <a:bodyPr wrap="square" lIns="0" tIns="0" rIns="0" bIns="0" rtlCol="0" anchor="t"/>
          <a:lstStyle/>
          <a:p>
            <a:pPr indent="0" marL="0">
              <a:buNone/>
            </a:pPr>
            <a:r>
              <a:rPr lang="en-US" sz="1400" dirty="0">
                <a:solidFill>
                  <a:schemeClr val="tx2"/>
                </a:solidFill>
              </a:rPr>
              <a:t>sees a clean complaint, duplicates flagged</a:t>
            </a:r>
            <a:endParaRPr lang="en-US" sz="1400" dirty="0"/>
          </a:p>
        </p:txBody>
      </p:sp>
      <p:sp>
        <p:nvSpPr>
          <p:cNvPr id="14" name="Text 12"/>
          <p:cNvSpPr txBox="1"/>
          <p:nvPr/>
        </p:nvSpPr>
        <p:spPr>
          <a:xfrm>
            <a:off x="548640" y="3474720"/>
            <a:ext cx="6949440" cy="914400"/>
          </a:xfrm>
          <a:prstGeom prst="rect">
            <a:avLst/>
          </a:prstGeom>
          <a:noFill/>
          <a:ln/>
        </p:spPr>
        <p:txBody>
          <a:bodyPr wrap="square" lIns="0" tIns="0" rIns="0" bIns="0" rtlCol="0" anchor="t"/>
          <a:lstStyle/>
          <a:p>
            <a:pPr indent="0" marL="0">
              <a:buNone/>
            </a:pPr>
            <a:r>
              <a:rPr lang="en-US" sz="1800" dirty="0">
                <a:solidFill>
                  <a:schemeClr val="tx1"/>
                </a:solidFill>
              </a:rPr>
              <a:t>Nothing is replaced. Sahayak sits in front of CM Helpline, and a "Which service do I need?" helper points people to the right Apuni Sarkar page.</a:t>
            </a:r>
            <a:endParaRPr lang="en-US" sz="18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Who it's for</a:t>
            </a:r>
            <a:endParaRPr lang="en-US" sz="3600" dirty="0"/>
          </a:p>
        </p:txBody>
      </p:sp>
      <p:sp>
        <p:nvSpPr>
          <p:cNvPr id="3" name="Text 1"/>
          <p:cNvSpPr txBox="1"/>
          <p:nvPr/>
        </p:nvSpPr>
        <p:spPr>
          <a:xfrm>
            <a:off x="548640" y="1600200"/>
            <a:ext cx="4754880" cy="3200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Elderly citizens</a:t>
            </a:r>
            <a:endParaRPr lang="en-US" sz="2000" dirty="0"/>
          </a:p>
        </p:txBody>
      </p:sp>
      <p:sp>
        <p:nvSpPr>
          <p:cNvPr id="4" name="Text 2"/>
          <p:cNvSpPr txBox="1"/>
          <p:nvPr/>
        </p:nvSpPr>
        <p:spPr>
          <a:xfrm>
            <a:off x="548640" y="1929384"/>
            <a:ext cx="4754880" cy="274320"/>
          </a:xfrm>
          <a:prstGeom prst="rect">
            <a:avLst/>
          </a:prstGeom>
          <a:noFill/>
          <a:ln/>
        </p:spPr>
        <p:txBody>
          <a:bodyPr wrap="square" lIns="0" tIns="0" rIns="0" bIns="0" rtlCol="0" anchor="t"/>
          <a:lstStyle/>
          <a:p>
            <a:pPr indent="0" marL="0">
              <a:buNone/>
            </a:pPr>
            <a:r>
              <a:rPr lang="en-US" sz="1600" dirty="0">
                <a:solidFill>
                  <a:schemeClr val="tx2"/>
                </a:solidFill>
              </a:rPr>
              <a:t>who would rather talk than type</a:t>
            </a:r>
            <a:endParaRPr lang="en-US" sz="1600" dirty="0"/>
          </a:p>
        </p:txBody>
      </p:sp>
      <p:sp>
        <p:nvSpPr>
          <p:cNvPr id="5" name="Text 3"/>
          <p:cNvSpPr txBox="1"/>
          <p:nvPr/>
        </p:nvSpPr>
        <p:spPr>
          <a:xfrm>
            <a:off x="548640" y="2331720"/>
            <a:ext cx="4754880" cy="3200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First-time smartphone users</a:t>
            </a:r>
            <a:endParaRPr lang="en-US" sz="2000" dirty="0"/>
          </a:p>
        </p:txBody>
      </p:sp>
      <p:sp>
        <p:nvSpPr>
          <p:cNvPr id="6" name="Text 4"/>
          <p:cNvSpPr txBox="1"/>
          <p:nvPr/>
        </p:nvSpPr>
        <p:spPr>
          <a:xfrm>
            <a:off x="548640" y="2660904"/>
            <a:ext cx="4754880" cy="274320"/>
          </a:xfrm>
          <a:prstGeom prst="rect">
            <a:avLst/>
          </a:prstGeom>
          <a:noFill/>
          <a:ln/>
        </p:spPr>
        <p:txBody>
          <a:bodyPr wrap="square" lIns="0" tIns="0" rIns="0" bIns="0" rtlCol="0" anchor="t"/>
          <a:lstStyle/>
          <a:p>
            <a:pPr indent="0" marL="0">
              <a:buNone/>
            </a:pPr>
            <a:r>
              <a:rPr lang="en-US" sz="1600" dirty="0">
                <a:solidFill>
                  <a:schemeClr val="tx2"/>
                </a:solidFill>
              </a:rPr>
              <a:t>who need one clear next step</a:t>
            </a:r>
            <a:endParaRPr lang="en-US" sz="1600" dirty="0"/>
          </a:p>
        </p:txBody>
      </p:sp>
      <p:sp>
        <p:nvSpPr>
          <p:cNvPr id="7" name="Text 5"/>
          <p:cNvSpPr txBox="1"/>
          <p:nvPr/>
        </p:nvSpPr>
        <p:spPr>
          <a:xfrm>
            <a:off x="548640" y="3063240"/>
            <a:ext cx="4754880" cy="3200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People in remote villages</a:t>
            </a:r>
            <a:endParaRPr lang="en-US" sz="2000" dirty="0"/>
          </a:p>
        </p:txBody>
      </p:sp>
      <p:sp>
        <p:nvSpPr>
          <p:cNvPr id="8" name="Text 6"/>
          <p:cNvSpPr txBox="1"/>
          <p:nvPr/>
        </p:nvSpPr>
        <p:spPr>
          <a:xfrm>
            <a:off x="548640" y="3392424"/>
            <a:ext cx="4754880" cy="274320"/>
          </a:xfrm>
          <a:prstGeom prst="rect">
            <a:avLst/>
          </a:prstGeom>
          <a:noFill/>
          <a:ln/>
        </p:spPr>
        <p:txBody>
          <a:bodyPr wrap="square" lIns="0" tIns="0" rIns="0" bIns="0" rtlCol="0" anchor="t"/>
          <a:lstStyle/>
          <a:p>
            <a:pPr indent="0" marL="0">
              <a:buNone/>
            </a:pPr>
            <a:r>
              <a:rPr lang="en-US" sz="1600" dirty="0">
                <a:solidFill>
                  <a:schemeClr val="tx2"/>
                </a:solidFill>
              </a:rPr>
              <a:t>where the signal comes and goes</a:t>
            </a:r>
            <a:endParaRPr lang="en-US" sz="1600" dirty="0"/>
          </a:p>
        </p:txBody>
      </p:sp>
      <p:sp>
        <p:nvSpPr>
          <p:cNvPr id="9" name="Text 7"/>
          <p:cNvSpPr txBox="1"/>
          <p:nvPr/>
        </p:nvSpPr>
        <p:spPr>
          <a:xfrm>
            <a:off x="548640" y="3794760"/>
            <a:ext cx="4754880" cy="3200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Citizens with disabilities</a:t>
            </a:r>
            <a:endParaRPr lang="en-US" sz="2000" dirty="0"/>
          </a:p>
        </p:txBody>
      </p:sp>
      <p:sp>
        <p:nvSpPr>
          <p:cNvPr id="10" name="Text 8"/>
          <p:cNvSpPr txBox="1"/>
          <p:nvPr/>
        </p:nvSpPr>
        <p:spPr>
          <a:xfrm>
            <a:off x="548640" y="4123944"/>
            <a:ext cx="4754880" cy="274320"/>
          </a:xfrm>
          <a:prstGeom prst="rect">
            <a:avLst/>
          </a:prstGeom>
          <a:noFill/>
          <a:ln/>
        </p:spPr>
        <p:txBody>
          <a:bodyPr wrap="square" lIns="0" tIns="0" rIns="0" bIns="0" rtlCol="0" anchor="t"/>
          <a:lstStyle/>
          <a:p>
            <a:pPr indent="0" marL="0">
              <a:buNone/>
            </a:pPr>
            <a:r>
              <a:rPr lang="en-US" sz="1600" dirty="0">
                <a:solidFill>
                  <a:schemeClr val="tx2"/>
                </a:solidFill>
              </a:rPr>
              <a:t>who need large text and screen-reader support</a:t>
            </a:r>
            <a:endParaRPr lang="en-US" sz="1600" dirty="0"/>
          </a:p>
        </p:txBody>
      </p:sp>
      <p:sp>
        <p:nvSpPr>
          <p:cNvPr id="11" name="Text 9"/>
          <p:cNvSpPr txBox="1"/>
          <p:nvPr/>
        </p:nvSpPr>
        <p:spPr>
          <a:xfrm>
            <a:off x="5669280" y="1737360"/>
            <a:ext cx="2926080" cy="1188720"/>
          </a:xfrm>
          <a:prstGeom prst="rect">
            <a:avLst/>
          </a:prstGeom>
          <a:noFill/>
          <a:ln/>
        </p:spPr>
        <p:txBody>
          <a:bodyPr wrap="square" lIns="0" tIns="0" rIns="0" bIns="0" rtlCol="0" anchor="ctr"/>
          <a:lstStyle/>
          <a:p>
            <a:pPr indent="0" marL="0">
              <a:buNone/>
            </a:pPr>
            <a:r>
              <a:rPr lang="en-US" sz="7200" b="1" dirty="0">
                <a:solidFill>
                  <a:schemeClr val="accent1"/>
                </a:solidFill>
                <a:latin typeface="+mj-lt" pitchFamily="34" charset="0"/>
                <a:ea typeface="+mj-lt" pitchFamily="34" charset="-122"/>
                <a:cs typeface="+mj-lt" pitchFamily="34" charset="-120"/>
              </a:rPr>
              <a:t>&lt;60 s</a:t>
            </a:r>
            <a:endParaRPr lang="en-US" sz="7200" dirty="0"/>
          </a:p>
        </p:txBody>
      </p:sp>
      <p:sp>
        <p:nvSpPr>
          <p:cNvPr id="12" name="Text 10"/>
          <p:cNvSpPr txBox="1"/>
          <p:nvPr/>
        </p:nvSpPr>
        <p:spPr>
          <a:xfrm>
            <a:off x="5669280" y="3017520"/>
            <a:ext cx="2834640" cy="914400"/>
          </a:xfrm>
          <a:prstGeom prst="rect">
            <a:avLst/>
          </a:prstGeom>
          <a:noFill/>
          <a:ln/>
        </p:spPr>
        <p:txBody>
          <a:bodyPr wrap="square" lIns="0" tIns="0" rIns="0" bIns="0" rtlCol="0" anchor="t"/>
          <a:lstStyle/>
          <a:p>
            <a:pPr indent="0" marL="0">
              <a:buNone/>
            </a:pPr>
            <a:r>
              <a:rPr lang="en-US" sz="1400" dirty="0">
                <a:solidFill>
                  <a:schemeClr val="tx2"/>
                </a:solidFill>
              </a:rPr>
              <a:t>Target time to file a complaint. A design goal, to be tested with real users.</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How I'll build it</a:t>
            </a:r>
            <a:endParaRPr lang="en-US" sz="3600" dirty="0"/>
          </a:p>
        </p:txBody>
      </p:sp>
      <p:sp>
        <p:nvSpPr>
          <p:cNvPr id="3" name="Text 1"/>
          <p:cNvSpPr txBox="1"/>
          <p:nvPr/>
        </p:nvSpPr>
        <p:spPr>
          <a:xfrm>
            <a:off x="548640" y="16002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MONTH 1</a:t>
            </a:r>
            <a:endParaRPr lang="en-US" sz="1200" dirty="0"/>
          </a:p>
        </p:txBody>
      </p:sp>
      <p:sp>
        <p:nvSpPr>
          <p:cNvPr id="4" name="Text 2"/>
          <p:cNvSpPr txBox="1"/>
          <p:nvPr/>
        </p:nvSpPr>
        <p:spPr>
          <a:xfrm>
            <a:off x="548640" y="1920240"/>
            <a:ext cx="2468880"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Prototype</a:t>
            </a:r>
            <a:endParaRPr lang="en-US" sz="2600" dirty="0"/>
          </a:p>
        </p:txBody>
      </p:sp>
      <p:sp>
        <p:nvSpPr>
          <p:cNvPr id="5" name="Text 3"/>
          <p:cNvSpPr txBox="1"/>
          <p:nvPr/>
        </p:nvSpPr>
        <p:spPr>
          <a:xfrm>
            <a:off x="548640" y="2514600"/>
            <a:ext cx="2468880" cy="1097280"/>
          </a:xfrm>
          <a:prstGeom prst="rect">
            <a:avLst/>
          </a:prstGeom>
          <a:noFill/>
          <a:ln/>
        </p:spPr>
        <p:txBody>
          <a:bodyPr wrap="square" lIns="0" tIns="0" rIns="0" bIns="0" rtlCol="0" anchor="t"/>
          <a:lstStyle/>
          <a:p>
            <a:pPr indent="0" marL="0">
              <a:buNone/>
            </a:pPr>
            <a:r>
              <a:rPr lang="en-US" sz="1600" dirty="0">
                <a:solidFill>
                  <a:schemeClr val="tx1"/>
                </a:solidFill>
              </a:rPr>
              <a:t>Figma screens and a working Hindi voice-to-complaint demo.</a:t>
            </a:r>
            <a:endParaRPr lang="en-US" sz="1600" dirty="0"/>
          </a:p>
        </p:txBody>
      </p:sp>
      <p:sp>
        <p:nvSpPr>
          <p:cNvPr id="6" name="Text 4"/>
          <p:cNvSpPr txBox="1"/>
          <p:nvPr/>
        </p:nvSpPr>
        <p:spPr>
          <a:xfrm>
            <a:off x="3383280" y="16002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MONTH 2</a:t>
            </a:r>
            <a:endParaRPr lang="en-US" sz="1200" dirty="0"/>
          </a:p>
        </p:txBody>
      </p:sp>
      <p:sp>
        <p:nvSpPr>
          <p:cNvPr id="7" name="Text 5"/>
          <p:cNvSpPr txBox="1"/>
          <p:nvPr/>
        </p:nvSpPr>
        <p:spPr>
          <a:xfrm>
            <a:off x="3383280" y="1920240"/>
            <a:ext cx="2468880"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Pilot</a:t>
            </a:r>
            <a:endParaRPr lang="en-US" sz="2600" dirty="0"/>
          </a:p>
        </p:txBody>
      </p:sp>
      <p:sp>
        <p:nvSpPr>
          <p:cNvPr id="8" name="Text 6"/>
          <p:cNvSpPr txBox="1"/>
          <p:nvPr/>
        </p:nvSpPr>
        <p:spPr>
          <a:xfrm>
            <a:off x="3383280" y="2514600"/>
            <a:ext cx="2468880" cy="1097280"/>
          </a:xfrm>
          <a:prstGeom prst="rect">
            <a:avLst/>
          </a:prstGeom>
          <a:noFill/>
          <a:ln/>
        </p:spPr>
        <p:txBody>
          <a:bodyPr wrap="square" lIns="0" tIns="0" rIns="0" bIns="0" rtlCol="0" anchor="t"/>
          <a:lstStyle/>
          <a:p>
            <a:pPr indent="0" marL="0">
              <a:buNone/>
            </a:pPr>
            <a:r>
              <a:rPr lang="en-US" sz="1600" dirty="0">
                <a:solidFill>
                  <a:schemeClr val="tx1"/>
                </a:solidFill>
              </a:rPr>
              <a:t>Add Garhwali and Kumaoni voice samples. Test with real users.</a:t>
            </a:r>
            <a:endParaRPr lang="en-US" sz="1600" dirty="0"/>
          </a:p>
        </p:txBody>
      </p:sp>
      <p:sp>
        <p:nvSpPr>
          <p:cNvPr id="9" name="Text 7"/>
          <p:cNvSpPr txBox="1"/>
          <p:nvPr/>
        </p:nvSpPr>
        <p:spPr>
          <a:xfrm>
            <a:off x="6217920" y="16002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MONTH 3</a:t>
            </a:r>
            <a:endParaRPr lang="en-US" sz="1200" dirty="0"/>
          </a:p>
        </p:txBody>
      </p:sp>
      <p:sp>
        <p:nvSpPr>
          <p:cNvPr id="10" name="Text 8"/>
          <p:cNvSpPr txBox="1"/>
          <p:nvPr/>
        </p:nvSpPr>
        <p:spPr>
          <a:xfrm>
            <a:off x="6217920" y="1920240"/>
            <a:ext cx="2468880"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Integrate</a:t>
            </a:r>
            <a:endParaRPr lang="en-US" sz="2600" dirty="0"/>
          </a:p>
        </p:txBody>
      </p:sp>
      <p:sp>
        <p:nvSpPr>
          <p:cNvPr id="11" name="Text 9"/>
          <p:cNvSpPr txBox="1"/>
          <p:nvPr/>
        </p:nvSpPr>
        <p:spPr>
          <a:xfrm>
            <a:off x="6217920" y="2514600"/>
            <a:ext cx="2468880" cy="1097280"/>
          </a:xfrm>
          <a:prstGeom prst="rect">
            <a:avLst/>
          </a:prstGeom>
          <a:noFill/>
          <a:ln/>
        </p:spPr>
        <p:txBody>
          <a:bodyPr wrap="square" lIns="0" tIns="0" rIns="0" bIns="0" rtlCol="0" anchor="t"/>
          <a:lstStyle/>
          <a:p>
            <a:pPr indent="0" marL="0">
              <a:buNone/>
            </a:pPr>
            <a:r>
              <a:rPr lang="en-US" sz="1600" dirty="0">
                <a:solidFill>
                  <a:schemeClr val="tx1"/>
                </a:solidFill>
              </a:rPr>
              <a:t>Connect to the CM Helpline workflow. Add WhatsApp alerts.</a:t>
            </a:r>
            <a:endParaRPr lang="en-US" sz="1600" dirty="0"/>
          </a:p>
        </p:txBody>
      </p:sp>
      <p:sp>
        <p:nvSpPr>
          <p:cNvPr id="12" name="Text 10"/>
          <p:cNvSpPr txBox="1"/>
          <p:nvPr/>
        </p:nvSpPr>
        <p:spPr>
          <a:xfrm>
            <a:off x="548640" y="4023360"/>
            <a:ext cx="7680960" cy="365760"/>
          </a:xfrm>
          <a:prstGeom prst="rect">
            <a:avLst/>
          </a:prstGeom>
          <a:noFill/>
          <a:ln/>
        </p:spPr>
        <p:txBody>
          <a:bodyPr wrap="square" lIns="0" tIns="0" rIns="0" bIns="0" rtlCol="0" anchor="t"/>
          <a:lstStyle/>
          <a:p>
            <a:pPr indent="0" marL="0">
              <a:buNone/>
            </a:pPr>
            <a:r>
              <a:rPr lang="en-US" sz="1400" dirty="0">
                <a:solidFill>
                  <a:schemeClr val="tx2"/>
                </a:solidFill>
              </a:rPr>
              <a:t>Tools: Flutter, React, FastAPI, PostgreSQL, a speech-to-text model and an LLM.</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Thank you</a:t>
            </a:r>
            <a:endParaRPr lang="en-US" sz="3600" dirty="0"/>
          </a:p>
        </p:txBody>
      </p:sp>
      <p:sp>
        <p:nvSpPr>
          <p:cNvPr id="3" name="Text 1"/>
          <p:cNvSpPr txBox="1"/>
          <p:nvPr/>
        </p:nvSpPr>
        <p:spPr>
          <a:xfrm>
            <a:off x="548640" y="1645920"/>
            <a:ext cx="6217920" cy="91440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I'm building this on my own, and I'd be glad to make it real with ITDA.</a:t>
            </a:r>
            <a:endParaRPr lang="en-US" sz="2200" dirty="0"/>
          </a:p>
        </p:txBody>
      </p:sp>
      <p:sp>
        <p:nvSpPr>
          <p:cNvPr id="4" name="Text 2"/>
          <p:cNvSpPr txBox="1"/>
          <p:nvPr/>
        </p:nvSpPr>
        <p:spPr>
          <a:xfrm>
            <a:off x="548640" y="3291840"/>
            <a:ext cx="7315200" cy="1005840"/>
          </a:xfrm>
          <a:prstGeom prst="rect">
            <a:avLst/>
          </a:prstGeom>
          <a:noFill/>
          <a:ln/>
        </p:spPr>
        <p:txBody>
          <a:bodyPr wrap="square" lIns="0" tIns="0" rIns="0" bIns="0" rtlCol="0" anchor="t"/>
          <a:lstStyle/>
          <a:p>
            <a:pPr indent="0" marL="0">
              <a:buNone/>
            </a:pPr>
            <a:r>
              <a:rPr lang="en-US" sz="1800" b="1" dirty="0">
                <a:solidFill>
                  <a:schemeClr val="tx1"/>
                </a:solidFill>
              </a:rPr>
              <a:t>Sneha Sharma</a:t>
            </a:r>
            <a:endParaRPr lang="en-US" sz="1800" dirty="0"/>
          </a:p>
          <a:p>
            <a:pPr indent="0" marL="0">
              <a:buNone/>
            </a:pPr>
            <a:r>
              <a:rPr lang="en-US" sz="1400" dirty="0">
                <a:solidFill>
                  <a:schemeClr val="tx2"/>
                </a:solidFill>
              </a:rPr>
              <a:t>B.Tech 3rd year, Graphic Era Hill University, Dehradun</a:t>
            </a:r>
            <a:endParaRPr lang="en-US" sz="1800" dirty="0"/>
          </a:p>
          <a:p>
            <a:pPr indent="0" marL="0">
              <a:buNone/>
            </a:pPr>
            <a:r>
              <a:rPr lang="en-US" sz="1400" dirty="0">
                <a:solidFill>
                  <a:schemeClr val="tx2"/>
                </a:solidFill>
              </a:rPr>
              <a:t>Team CodeNova  ·  snehasharmaa912@gmail.com</a:t>
            </a:r>
            <a:endParaRPr lang="en-US" sz="18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deNova">
  <a:themeElements>
    <a:clrScheme name="CodeNova">
      <a:dk1>
        <a:srgbClr val="1F2933"/>
      </a:dk1>
      <a:lt1>
        <a:srgbClr val="FFFFFF"/>
      </a:lt1>
      <a:dk2>
        <a:srgbClr val="4B5563"/>
      </a:dk2>
      <a:lt2>
        <a:srgbClr val="F3F4F6"/>
      </a:lt2>
      <a:accent1>
        <a:srgbClr val="B5532D"/>
      </a:accent1>
      <a:accent2>
        <a:srgbClr val="2E7D6B"/>
      </a:accent2>
      <a:accent3>
        <a:srgbClr val="3A6EA5"/>
      </a:accent3>
      <a:accent4>
        <a:srgbClr val="8A6D3B"/>
      </a:accent4>
      <a:accent5>
        <a:srgbClr val="6B7280"/>
      </a:accent5>
      <a:accent6>
        <a:srgbClr val="D9A441"/>
      </a:accent6>
      <a:hlink>
        <a:srgbClr val="B5532D"/>
      </a:hlink>
      <a:folHlink>
        <a:srgbClr val="6B7280"/>
      </a:folHlink>
    </a:clrScheme>
    <a:fontScheme name="CodeNov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CodeNova - Sahayak | PRAYAS 2026</dc:title>
  <dc:subject>PptxGenJS Presentation</dc:subject>
  <dc:creator>Sneha Sharma</dc:creator>
  <cp:lastModifiedBy>Sneha Sharma</cp:lastModifiedBy>
  <cp:revision>1</cp:revision>
  <dcterms:created xsi:type="dcterms:W3CDTF">2026-10-08T04:50:26Z</dcterms:created>
  <dcterms:modified xsi:type="dcterms:W3CDTF">2026-10-08T04:50:26Z</dcterms:modified>
</cp:coreProperties>
</file>